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lost / month</c:v>
                </c:pt>
              </c:strCache>
            </c:strRef>
          </c:tx>
          <c:spPr>
            <a:solidFill>
              <a:srgbClr val="FF5722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11500</c:v>
                </c:pt>
                <c:pt idx="1">
                  <c:v>7500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Kirana Rakshak (target)</c:v>
                </c:pt>
              </c:strCache>
            </c:strRef>
          </c:tx>
          <c:spPr>
            <a:solidFill>
              <a:srgbClr val="151618"/>
            </a:solidFill>
            <a:effectLst/>
          </c:spPr>
          <c:invertIfNegative val="0"/>
          <c:dLbls>
            <c:numFmt formatCode="₹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547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Short deliveries</c:v>
                  </c:pt>
                  <c:pt idx="1">
                    <c:v>Expired stock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1500</c:v>
                </c:pt>
                <c:pt idx="1">
                  <c:v>1500</c:v>
                </c:pt>
              </c:numCache>
            </c:numRef>
          </c:val>
        </c:ser>
        <c:dLbls>
          <c:numFmt formatCode="₹#,##0" sourceLinked="0"/>
          <c:txPr>
            <a:bodyPr/>
            <a:lstStyle/>
            <a:p>
              <a:pPr>
                <a:defRPr b="0" i="0" strike="noStrike" sz="900" u="none">
                  <a:solidFill>
                    <a:srgbClr val="4547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47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547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Kirana Rakshak by Team HoloTrio for the iQOO Hackathon 2026 Grand Finale, Bengaluru. Primary track: Productivity; technical anchor: Open Innovation (local models, zero cloud).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from our research docs (docs/01_pitch/master.md). Combined leakage ₹13K–25K per shop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840966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2486" y="502920"/>
            <a:ext cx="0" cy="594360"/>
          </a:xfrm>
          <a:prstGeom prst="line">
            <a:avLst/>
          </a:prstGeom>
          <a:noFill/>
          <a:ln w="12700">
            <a:solidFill>
              <a:srgbClr val="3A3C4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801086" y="411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GRAND FINALE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· 9–11 October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ideas don't need desks.</a:t>
            </a:r>
            <a:endParaRPr lang="en-US" sz="1100" dirty="0"/>
          </a:p>
        </p:txBody>
      </p:sp>
      <p:pic>
        <p:nvPicPr>
          <p:cNvPr id="5" name="Image 1" descr="C:\Users\sansk\AppData\Local\Temp\claude\D--Projects-KiranaRakshak\0b423f22-21fc-4787-82d2-a3959a20cc81\scratchpad\img\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92608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7033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RAKSHAK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634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loss-prevention for India's kirana stores — powered entirely by the iQOO 15.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5532120"/>
            <a:ext cx="6217920" cy="82296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5577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900" dirty="0"/>
          </a:p>
          <a:p>
            <a:pPr indent="0" marL="0">
              <a:buNone/>
            </a:pPr>
            <a:r>
              <a:rPr lang="en-US" sz="2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HoloTrio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5577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 ·  Team Leader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Shambhavi Patil  ·  Member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223760" y="822960"/>
            <a:ext cx="4937760" cy="4937760"/>
          </a:xfrm>
          <a:prstGeom prst="ellipse">
            <a:avLst/>
          </a:prstGeom>
          <a:solidFill>
            <a:srgbClr val="FF5722">
              <a:alpha val="18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63840" y="1463040"/>
            <a:ext cx="3657600" cy="3657600"/>
          </a:xfrm>
          <a:prstGeom prst="ellipse">
            <a:avLst/>
          </a:prstGeom>
          <a:solidFill>
            <a:srgbClr val="D4F639">
              <a:alpha val="12000"/>
            </a:srgbClr>
          </a:solidFill>
          <a:ln w="12700">
            <a:solidFill>
              <a:srgbClr val="D4F639">
                <a:alpha val="30000"/>
              </a:srgbClr>
            </a:solidFill>
            <a:prstDash val="solid"/>
          </a:ln>
        </p:spPr>
      </p:sp>
      <p:pic>
        <p:nvPicPr>
          <p:cNvPr id="14" name="Image 2" descr="C:\Users\sansk\AppData\Local\Temp\claude\D--Projects-KiranaRakshak\0b423f22-21fc-4787-82d2-a3959a20cc81\scratchpad\img\vendor-b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2298192" cy="475488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15" name="Image 3" descr="C:\Users\sansk\AppData\Local\Temp\claude\D--Projects-KiranaRakshak\0b423f22-21fc-4787-82d2-a3959a20cc81\scratchpad\img\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868680"/>
            <a:ext cx="2607564" cy="53949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Shape 10"/>
          <p:cNvSpPr/>
          <p:nvPr/>
        </p:nvSpPr>
        <p:spPr>
          <a:xfrm>
            <a:off x="7589520" y="62636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F5722"/>
          </a:solidFill>
          <a:ln w="12700">
            <a:solidFill>
              <a:srgbClr val="FF5722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589520" y="62636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· PRODUCTIVITY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9829800" y="626364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829800" y="6263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ON-DEVICE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Kiranas bleed money every morning.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distributor drops 30–50 crates during the rush. The bill says 24 Maggi; only 20 arrived. Ramesh finds out days later — or never.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12M+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 kirana stores in India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88036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6324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₹8–15K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short deliveries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12080" y="2697480"/>
            <a:ext cx="2148840" cy="1920240"/>
          </a:xfrm>
          <a:prstGeom prst="roundRect">
            <a:avLst>
              <a:gd name="adj" fmla="val 857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2926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₹5–10K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703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shop / month to expired stock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37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apps record only what the shopkeeper types. </a:t>
            </a:r>
            <a:pPr indent="0" marL="0">
              <a:buNone/>
            </a:pPr>
            <a:r>
              <a:rPr lang="en-US" sz="16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verifies what physically arrived.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818120" y="1645920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2712" y="181051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64108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deliveries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641080" y="194767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time to count every packet while serving customers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818120" y="2724912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712" y="2889504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641080" y="2706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sales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8641080" y="3026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stock hides at the back; return window passes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818120" y="3803904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968496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641080" y="3785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spoilage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8641080" y="41056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Freezers fail during power cuts; dairy curdles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818120" y="4882896"/>
            <a:ext cx="658368" cy="658368"/>
          </a:xfrm>
          <a:prstGeom prst="ellipse">
            <a:avLst/>
          </a:prstGeom>
          <a:solidFill>
            <a:srgbClr val="2A1510"/>
          </a:solidFill>
          <a:ln w="12700">
            <a:solidFill>
              <a:srgbClr val="FF572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5047488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41080" y="4864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&amp; typing barrier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8641080" y="51846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apps need English, typing and internet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phone. Four catches. Zero internet.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28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Catch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vendor check-in, one ultrawide photo, on-device YOLO counts every packet and matches it against the OCR'd bill.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24 · Got 20 · Vendor owes ₹56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78308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20574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2128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23760" y="20574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Cold-Chain Guardian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8072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dairy or ice-cream is logged, the IR blaster pulses the counter freezer into super-freeze.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502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actuation, no smart plug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544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Expiry Guard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Periscope macro reads dot-matrix expiry stamps at intake; an expired scan at checkout is blocked with a haptic buzz.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· SALE BLOCKED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26480" y="4114800"/>
            <a:ext cx="5394960" cy="2148840"/>
          </a:xfrm>
          <a:prstGeom prst="roundRect">
            <a:avLst>
              <a:gd name="adj" fmla="val 8511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400800" y="43891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5445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389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Hindi Voice Soundbox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6400800" y="513892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B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“Rajesh ne kitna kam maal diya?” — on-device speech AI answers aloud through the stereo speakers.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Speaks Hindi &amp; English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LIVE PROTOTYPE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Receive stock in three taps.</a:t>
            </a:r>
            <a:endParaRPr lang="en-US" sz="3400" dirty="0"/>
          </a:p>
        </p:txBody>
      </p:sp>
      <p:pic>
        <p:nvPicPr>
          <p:cNvPr id="7" name="Image 1" descr="C:\Users\sansk\AppData\Local\Temp\claude\D--Projects-KiranaRakshak\0b423f22-21fc-4787-82d2-a3959a20cc81\scratchpad\img\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246888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246888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job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46888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giant buttons: Receive Stock or Sell Item. Built for owners who don't type.</a:t>
            </a:r>
            <a:endParaRPr lang="en-US" sz="1100" dirty="0"/>
          </a:p>
        </p:txBody>
      </p:sp>
      <p:pic>
        <p:nvPicPr>
          <p:cNvPr id="11" name="Image 2" descr="C:\Users\sansk\AppData\Local\Temp\claude\D--Projects-KiranaRakshak\0b423f22-21fc-4787-82d2-a3959a20cc81\scratchpad\img\vendor-sc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2" name="Text 7"/>
          <p:cNvSpPr txBox="1"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delivery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counts boxes, reads expiry dates and flags perishables for the freezer.</a:t>
            </a:r>
            <a:endParaRPr lang="en-US" sz="1100" dirty="0"/>
          </a:p>
        </p:txBody>
      </p:sp>
      <p:pic>
        <p:nvPicPr>
          <p:cNvPr id="15" name="Image 3" descr="C:\Users\sansk\AppData\Local\Temp\claude\D--Projects-KiranaRakshak\0b423f22-21fc-4787-82d2-a3959a20cc81\scratchpad\img\vendor-bi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91640"/>
            <a:ext cx="1812036" cy="37490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10149840" y="1828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1"/>
          <p:cNvSpPr txBox="1"/>
          <p:nvPr/>
        </p:nvSpPr>
        <p:spPr>
          <a:xfrm>
            <a:off x="10149840" y="24231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bill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149840" y="297180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reads the invoice; shortages are priced and stamped with NavIC proof-of-delivery.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captured from prototype/kirana_rakshak_ui.html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COUNTER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 safely. Ask in Hindi.</a:t>
            </a:r>
            <a:endParaRPr lang="en-US" sz="3400" dirty="0"/>
          </a:p>
        </p:txBody>
      </p:sp>
      <p:pic>
        <p:nvPicPr>
          <p:cNvPr id="7" name="Image 1" descr="C:\Users\sansk\AppData\Local\Temp\claude\D--Projects-KiranaRakshak\0b423f22-21fc-4787-82d2-a3959a20cc81\scratchpad\img\s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pic>
        <p:nvPicPr>
          <p:cNvPr id="8" name="Image 2" descr="C:\Users\sansk\AppData\Local\Temp\claude\D--Projects-KiranaRakshak\0b423f22-21fc-4787-82d2-a3959a20cc81\scratchpad\img\assista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005840"/>
            <a:ext cx="2452878" cy="507492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325880" y="1755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scan billing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1325880" y="20756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on the NPU identifies several items in one frame; the WhatsApp bill goes to the customer.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48640" y="2807208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4436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25880" y="27797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item? Sale blocked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1325880" y="30998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X-axis haptic pattern cuts through an 80 dB bazaar where beeps get lost.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68496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25880" y="38039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Kirana Soundbox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1325880" y="41239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read aloud on the stereo speakers — replaces a ₹125/month rented soundbox.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548640" y="4855464"/>
            <a:ext cx="566928" cy="566928"/>
          </a:xfrm>
          <a:prstGeom prst="ellipse">
            <a:avLst/>
          </a:prstGeom>
          <a:solidFill>
            <a:srgbClr val="D4F639"/>
          </a:solidFill>
          <a:ln w="12700">
            <a:solidFill>
              <a:srgbClr val="D4F639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992624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325880" y="4828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stays on the phone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1325880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Airplane Mode. Vendor margins and khata never leave the device.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iQOO 15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sensor has a job.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 runs vision, OCR, speech and intent models in parallel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55848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783080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50208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Supercomputing Chip Q3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538728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bounding-box HUD without stealing NPU time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63056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78308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57416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345936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delivery counter in one frame for counting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970264" y="1600200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144" y="178308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564624" y="17282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3x Periscope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915314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Telemacro reads tiny dot-matrix expiry dates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48640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081528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43000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Spectrum Sensor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731520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Kills 50 Hz tube-light banding &amp; foil glare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3355848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081528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950208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3538728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Pulses freezers / ACs via ConsumerIrManager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6163056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81528"/>
            <a:ext cx="310896" cy="31089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757416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6345936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vendor check-in with a card or badge</a:t>
            </a:r>
            <a:endParaRPr lang="en-US" sz="1000" dirty="0"/>
          </a:p>
        </p:txBody>
      </p:sp>
      <p:sp>
        <p:nvSpPr>
          <p:cNvPr id="35" name="Shape 25"/>
          <p:cNvSpPr/>
          <p:nvPr/>
        </p:nvSpPr>
        <p:spPr>
          <a:xfrm>
            <a:off x="8970264" y="2898648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44" y="3081528"/>
            <a:ext cx="310896" cy="31089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564624" y="302666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NavIC L5 GNSS</a:t>
            </a:r>
            <a:endParaRPr lang="en-US" sz="1200" dirty="0"/>
          </a:p>
        </p:txBody>
      </p:sp>
      <p:sp>
        <p:nvSpPr>
          <p:cNvPr id="38" name="Text 27"/>
          <p:cNvSpPr txBox="1"/>
          <p:nvPr/>
        </p:nvSpPr>
        <p:spPr>
          <a:xfrm>
            <a:off x="9153144" y="34930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Geo-stamped proof-of-delivery receipts</a:t>
            </a:r>
            <a:endParaRPr lang="en-US" sz="1000" dirty="0"/>
          </a:p>
        </p:txBody>
      </p:sp>
      <p:sp>
        <p:nvSpPr>
          <p:cNvPr id="39" name="Shape 28"/>
          <p:cNvSpPr/>
          <p:nvPr/>
        </p:nvSpPr>
        <p:spPr>
          <a:xfrm>
            <a:off x="548640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" y="4379976"/>
            <a:ext cx="310896" cy="310896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143000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 Linear Haptics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731520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buzz patterns for shortage &amp; expiry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3355848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38728" y="4379976"/>
            <a:ext cx="310896" cy="310896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3950208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Stereo Speakers</a:t>
            </a:r>
            <a:endParaRPr lang="en-US" sz="1200" dirty="0"/>
          </a:p>
        </p:txBody>
      </p:sp>
      <p:sp>
        <p:nvSpPr>
          <p:cNvPr id="46" name="Text 33"/>
          <p:cNvSpPr txBox="1"/>
          <p:nvPr/>
        </p:nvSpPr>
        <p:spPr>
          <a:xfrm>
            <a:off x="3538728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 Hindi answers — a built-in soundbox</a:t>
            </a:r>
            <a:endParaRPr lang="en-US" sz="1000" dirty="0"/>
          </a:p>
        </p:txBody>
      </p:sp>
      <p:sp>
        <p:nvSpPr>
          <p:cNvPr id="47" name="Shape 34"/>
          <p:cNvSpPr/>
          <p:nvPr/>
        </p:nvSpPr>
        <p:spPr>
          <a:xfrm>
            <a:off x="6163056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45936" y="4379976"/>
            <a:ext cx="310896" cy="310896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6757416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+ Vapour Chamber</a:t>
            </a:r>
            <a:endParaRPr lang="en-US" sz="1200" dirty="0"/>
          </a:p>
        </p:txBody>
      </p:sp>
      <p:sp>
        <p:nvSpPr>
          <p:cNvPr id="50" name="Text 36"/>
          <p:cNvSpPr txBox="1"/>
          <p:nvPr/>
        </p:nvSpPr>
        <p:spPr>
          <a:xfrm>
            <a:off x="6345936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12-hour counter shift through power cuts</a:t>
            </a:r>
            <a:endParaRPr lang="en-US" sz="1000" dirty="0"/>
          </a:p>
        </p:txBody>
      </p:sp>
      <p:sp>
        <p:nvSpPr>
          <p:cNvPr id="51" name="Shape 37"/>
          <p:cNvSpPr/>
          <p:nvPr/>
        </p:nvSpPr>
        <p:spPr>
          <a:xfrm>
            <a:off x="8970264" y="4197096"/>
            <a:ext cx="2651760" cy="1170432"/>
          </a:xfrm>
          <a:prstGeom prst="roundRect">
            <a:avLst>
              <a:gd name="adj" fmla="val 10938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53144" y="4379976"/>
            <a:ext cx="310896" cy="310896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9564624" y="432511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Ultrasonic Fingerprint</a:t>
            </a:r>
            <a:endParaRPr lang="en-US" sz="1200" dirty="0"/>
          </a:p>
        </p:txBody>
      </p:sp>
      <p:sp>
        <p:nvSpPr>
          <p:cNvPr id="54" name="Text 39"/>
          <p:cNvSpPr txBox="1"/>
          <p:nvPr/>
        </p:nvSpPr>
        <p:spPr>
          <a:xfrm>
            <a:off x="9153144" y="4791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margins &amp; vendor ledgers; works with wet hands</a:t>
            </a:r>
            <a:endParaRPr lang="en-US" sz="1000" dirty="0"/>
          </a:p>
        </p:txBody>
      </p:sp>
      <p:sp>
        <p:nvSpPr>
          <p:cNvPr id="55" name="Text 4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iQOO 15? </a:t>
            </a:r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blaster, periscope telemacro, NavIC L5 and the Q3 chip together are what make this impossible on a generic phone or in the cloud.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WE USE · DEMO KIT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 to the finale.</a:t>
            </a:r>
            <a:endParaRPr lang="en-US" sz="3400" dirty="0"/>
          </a:p>
        </p:txBody>
      </p:sp>
      <p:pic>
        <p:nvPicPr>
          <p:cNvPr id="7" name="Image 1" descr="C:\Users\sansk\AppData\Local\Temp\claude\D--Projects-KiranaRakshak\0b423f22-21fc-4787-82d2-a3959a20cc81\scratchpad\img\iqoo_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931406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17206" y="176479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514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compute device in the Red Light phase. All AI runs here.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2004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Snapdragon 8 Elite Gen 5 + Q3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5844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5844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 GB RAM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9684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9684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OriginOS 6 · Android 16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352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645920" y="4352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6.85" 2K AMOLED · 144 Hz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736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645920" y="4736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main · ultrawide · 3x periscope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1206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645920" y="5120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mAh · 100 W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7492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5780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207568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2472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+ iQOO Office Kit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525780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 phase: customer-facing bill screen, loss dashboard, Excel/Tally export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412480" y="1783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595360" y="196596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07568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162288" y="1947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tags (NTAG215 cards)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595360" y="24688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card per mock distributor for tap-to-check-in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07492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525780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340156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82472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receiver + LED board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25780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Benchtop stand-in for a freezer — lights up when the phone pulses it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8412480" y="310896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95360" y="329184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40156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9162288" y="327355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FMCG props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8595360" y="3794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Maggi, chips, chocolates &amp; a dairy pack with one expired batch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07492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25780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7528" y="472744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82472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vendor invoices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525780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over-billed (24 vs 20) to trigger the shortage catch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8412480" y="443484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8595360" y="4617720"/>
            <a:ext cx="457200" cy="457200"/>
          </a:xfrm>
          <a:prstGeom prst="ellipse">
            <a:avLst/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5088" y="4727448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9162288" y="45994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Tube-light / LED lamp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8595360" y="51206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flicker-free capture under real shop lighting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STACK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 in, verdict out — in under 250 ms.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check-in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32304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23744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×2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23744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ultrawide + bill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78224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315968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07408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07408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· ~22 ms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961888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199632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91072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PaddleOCR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91072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v4 · ~65 ms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45552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083296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D4F63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74736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74736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 &gt; 0.82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729216" y="2057400"/>
            <a:ext cx="237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966960" y="1783080"/>
            <a:ext cx="1645920" cy="1005840"/>
          </a:xfrm>
          <a:prstGeom prst="roundRect">
            <a:avLst>
              <a:gd name="adj" fmla="val 12727"/>
            </a:avLst>
          </a:prstGeom>
          <a:solidFill>
            <a:srgbClr val="1C1D21"/>
          </a:solidFill>
          <a:ln w="15875">
            <a:solidFill>
              <a:srgbClr val="FF57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+ voice + IR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3063240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1520" y="306324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2697480" y="3063240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MP Ultrawide · 3x Telemacro · Color Spectrum · Mic · NFC · NavIC L5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3538728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35387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HEXAGON NPU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697480" y="3538728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YOLO11n detection · PaddleOCR / ML Kit · Whisper-small STT · Laya 322M intent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4014216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31520" y="401421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CHIP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2697480" y="401421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 Hz AR overlay of bounding boxes on the live camera feed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8640" y="4489704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1C1D21"/>
          </a:solidFill>
          <a:ln w="12700">
            <a:solidFill>
              <a:srgbClr val="1C1D2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44897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97480" y="4489704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+ Jetpack Compose + C++ NDK · Room/SQLite ledger · ConsumerIrManager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48640" y="4965192"/>
            <a:ext cx="11064240" cy="402336"/>
          </a:xfrm>
          <a:prstGeom prst="roundRect">
            <a:avLst>
              <a:gd name="adj" fmla="val 22727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651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2697480" y="496519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API customer screen · ledger sync · .xlsx export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= our software · Orange = iQOO 15 hardware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FORMAT FIT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Phone-first. Laptop when it helps.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 LIGHT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only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audit, counting and OCR on the iQOO 15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ledger, haptics, IR and voice agent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 Airplane Mode — Wi-Fi and cellular off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2200" y="1783080"/>
            <a:ext cx="5440680" cy="2926080"/>
          </a:xfrm>
          <a:prstGeom prst="roundRect">
            <a:avLst>
              <a:gd name="adj" fmla="val 625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2103120"/>
            <a:ext cx="731520" cy="7315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2860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406640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GREEN LIGHT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40664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+ laptop via Office Kit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1546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bill on the laptop screen; cost margins stay hidden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Loss-prevention dashboard with vendor reliability scores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day-end Excel / Tally export for GST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SCORE AGAINST THE RUBRIC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how the jury judges.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19659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product quality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1737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end-to-end offline; a two-button UI a shopkeeper keeps using daily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377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600200" y="260604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00200" y="2606040"/>
            <a:ext cx="9144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004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&amp; impact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2377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377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physical deliveries, not typed ones — ₹13–25K/month back per shop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600200" y="324612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00200" y="324612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2004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phone use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camera lenses, voice, NPU, IR, NFC, NavIC and haptics in the core loop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65760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657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600200" y="388620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00200" y="3886200"/>
            <a:ext cx="6858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004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0" y="3657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36576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INT8 models on Hexagon NPU + Q3 HUD; Kotlin / C++ NDK, Room DB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42976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31520" y="4297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600200" y="452628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600200" y="452628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00400" y="4297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usage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5486400" y="4297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5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DATA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42976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bill screen, dashboard sync and Excel export on the laptop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493776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4937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B3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600200" y="5166360"/>
            <a:ext cx="1371600" cy="91440"/>
          </a:xfrm>
          <a:prstGeom prst="roundRect">
            <a:avLst>
              <a:gd name="adj" fmla="val 50000"/>
            </a:avLst>
          </a:prstGeom>
          <a:solidFill>
            <a:srgbClr val="34363B"/>
          </a:solidFill>
          <a:ln w="12700">
            <a:solidFill>
              <a:srgbClr val="34363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600200" y="5166360"/>
            <a:ext cx="457200" cy="91440"/>
          </a:xfrm>
          <a:prstGeom prst="roundRect">
            <a:avLst>
              <a:gd name="adj" fmla="val 50000"/>
            </a:avLst>
          </a:prstGeom>
          <a:solidFill>
            <a:srgbClr val="F0B31C"/>
          </a:solidFill>
          <a:ln w="12700">
            <a:solidFill>
              <a:srgbClr val="F0B31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0040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presentation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0" y="4937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JURY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6675120" y="49377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Airplane-Mode demo with real props: shortage, IR, blocked sale, voice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5669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from iqoo.reskilll.com: 75% jury panel · 25% HackTracker device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3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Money back in Ramesh's pocket.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151618"/>
          </a:solidFill>
          <a:ln w="12700">
            <a:solidFill>
              <a:srgbClr val="15161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₹13–25K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we target per shop, per month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55848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84448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250 ms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3584448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photo-to-verdict, fully offline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1656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391656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cost — no API calls, no data plan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70264" y="1783080"/>
            <a:ext cx="26060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98864" y="1965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6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₹125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198864" y="28346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monthly by replacing a rented soundbox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931920"/>
          <a:ext cx="6583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7498080" y="4114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Midpoints of our researched ranges; the “after” bars are our target, to be validated in pilot shops.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498080" y="4983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6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owners with basic literacy: icons, Hindi voice, one-photo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nsk\AppData\Local\Temp\claude\D--Projects-KiranaRakshak\0b423f22-21fc-4787-82d2-a3959a20cc81\scratchpad\img\iqo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8724" y="384048"/>
            <a:ext cx="1004331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TEAM HOLOTRIO  ·  KIRANA RAKSHAK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48-HOUR EXECUTION PLAN · FRI EVENING → SUN EVENING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build it at the finale.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3A3C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0–12 h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scaffold, Camera2 dual-lens, SQLite schema, YOLO11n + OCR on device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889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12–22 h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78892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718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97180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Colour-spectrum anti-banding, IR transmitter, NFC tap-in, NavIC geotag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6636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22–32 h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02920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haptics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STT, Laya intent → SQL, custom haptic waveforms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06640" y="2148840"/>
            <a:ext cx="365760" cy="365760"/>
          </a:xfrm>
          <a:prstGeom prst="ellipse">
            <a:avLst/>
          </a:prstGeom>
          <a:solidFill>
            <a:srgbClr val="FF5722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57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32–40 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26948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display via Presentation API, dashboard, Excel export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646920" y="2148840"/>
            <a:ext cx="365760" cy="365760"/>
          </a:xfrm>
          <a:prstGeom prst="ellipse">
            <a:avLst/>
          </a:prstGeom>
          <a:solidFill>
            <a:srgbClr val="D4F639"/>
          </a:solidFill>
          <a:ln w="38100">
            <a:solidFill>
              <a:srgbClr val="0B0C0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F63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40–48 h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509760" y="274320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C1D21"/>
          </a:solidFill>
          <a:ln w="12700">
            <a:solidFill>
              <a:srgbClr val="2C2E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6926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polish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692640" y="333756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Props, lighting calibration, 3–5 minute pitch rehearsal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983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done: clickable prototype of every screen + showcase website.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548640"/>
            <a:ext cx="5303520" cy="5303520"/>
          </a:xfrm>
          <a:prstGeom prst="ellipse">
            <a:avLst/>
          </a:prstGeom>
          <a:solidFill>
            <a:srgbClr val="FF5722">
              <a:alpha val="15000"/>
            </a:srgbClr>
          </a:solidFill>
          <a:ln w="12700">
            <a:solidFill>
              <a:srgbClr val="FF5722">
                <a:alpha val="40000"/>
              </a:srgbClr>
            </a:solidFill>
            <a:prstDash val="solid"/>
          </a:ln>
        </p:spPr>
      </p:sp>
      <p:pic>
        <p:nvPicPr>
          <p:cNvPr id="3" name="Image 0" descr="C:\Users\sansk\AppData\Local\Temp\claude\D--Projects-KiranaRakshak\0b423f22-21fc-4787-82d2-a3959a20cc81\scratchpad\img\hk_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11480"/>
            <a:ext cx="2541917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KIRANA RAKSHAK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delivery counted.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rupee protected.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Offline. On-device. Built on the iQOO 15.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F6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HOLOTRIO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Sanskar Tiwari (Leader)  ·  Shambhavi Patil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52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· Grand Finale · Bengaluru · 9–11 Oct</a:t>
            </a:r>
            <a:endParaRPr lang="en-US" sz="1100" dirty="0"/>
          </a:p>
        </p:txBody>
      </p:sp>
      <p:pic>
        <p:nvPicPr>
          <p:cNvPr id="9" name="Image 1" descr="C:\Users\sansk\AppData\Local\Temp\claude\D--Projects-KiranaRakshak\0b423f22-21fc-4787-82d2-a3959a20cc81\scratchpad\img\app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600200"/>
            <a:ext cx="2651760" cy="2651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229600" y="4526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Kirana Rakshak · iQOO Hackathon 2026 · Team HoloTrio</dc:title>
  <dc:subject>PptxGenJS Presentation</dc:subject>
  <dc:creator>Team HoloTrio</dc:creator>
  <cp:lastModifiedBy>Team HoloTrio</cp:lastModifiedBy>
  <cp:revision>1</cp:revision>
  <dcterms:created xsi:type="dcterms:W3CDTF">2026-09-27T17:43:08Z</dcterms:created>
  <dcterms:modified xsi:type="dcterms:W3CDTF">2026-09-27T17:43:08Z</dcterms:modified>
</cp:coreProperties>
</file>